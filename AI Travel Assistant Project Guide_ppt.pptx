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D84657-985A-3269-9B5D-8B489B3F9A51}" v="128" dt="2026-05-28T19:58:43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034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28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426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26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11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45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761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93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88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2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373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3444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938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2764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146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173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263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65666F-7137-47EC-A897-80103B8E9F53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5B58D72-1774-45AC-8C1D-5BAC2F9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7960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77B48D-7BF2-470D-876B-50CD5CC8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B35DAE-7A5E-4F59-AAC7-715FC9C80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3" y="685799"/>
            <a:ext cx="4781147" cy="29718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/>
              <a:t>AI Travel Assistant Project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DB32D-E8F3-47AB-9BDF-37D7B0B39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4816572" cy="1947333"/>
          </a:xfrm>
        </p:spPr>
        <p:txBody>
          <a:bodyPr>
            <a:normAutofit/>
          </a:bodyPr>
          <a:lstStyle/>
          <a:p>
            <a:r>
              <a:rPr lang="en-IN" dirty="0"/>
              <a:t>Architecting Secure, Zero-Cost Intelligent Workflow Pipelines via </a:t>
            </a:r>
            <a:r>
              <a:rPr lang="en-IN" dirty="0" err="1"/>
              <a:t>LangChain</a:t>
            </a:r>
            <a:r>
              <a:rPr lang="en-IN" dirty="0"/>
              <a:t> &amp; Quantized Local LLMs</a:t>
            </a:r>
          </a:p>
          <a:p>
            <a:r>
              <a:rPr lang="en-IN" b="1"/>
              <a:t>Presented by:</a:t>
            </a:r>
            <a:r>
              <a:rPr lang="en-IN"/>
              <a:t> Kartik Bingi.</a:t>
            </a:r>
          </a:p>
        </p:txBody>
      </p:sp>
      <p:pic>
        <p:nvPicPr>
          <p:cNvPr id="18" name="Picture 17" descr="Close up of a control panel of an aeroplane flying at night">
            <a:extLst>
              <a:ext uri="{FF2B5EF4-FFF2-40B4-BE49-F238E27FC236}">
                <a16:creationId xmlns:a16="http://schemas.microsoft.com/office/drawing/2014/main" id="{6F4C1612-293C-7221-A90E-C8F52BE06B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56" r="28214" b="4"/>
          <a:stretch>
            <a:fillRect/>
          </a:stretch>
        </p:blipFill>
        <p:spPr>
          <a:xfrm>
            <a:off x="6096000" y="10"/>
            <a:ext cx="609599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3DA8283-3FF4-47B3-9266-60768C743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93200" y="8468"/>
            <a:ext cx="5795625" cy="5874808"/>
            <a:chOff x="6108170" y="8467"/>
            <a:chExt cx="6080656" cy="6163733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DEB65FF-EAD9-4242-80AE-A3FC7EB1E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78B5500-48F2-41FA-BD8C-3C2400F62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47B2E66-9934-4251-A5B0-A180C0CC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CDA1666-64EC-4838-B0E1-4D545ECEA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CC99E35-6C12-4F89-8CDA-9FD8B3CEE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864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5145EC-0EDB-444F-A459-CF52D82E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PROJECT CONTEXT &amp; THE PROBLEM LANDSCAPE</a:t>
            </a:r>
            <a:endParaRPr lang="en-IN" sz="3200">
              <a:solidFill>
                <a:srgbClr val="FFFFFF"/>
              </a:solidFill>
            </a:endParaRPr>
          </a:p>
        </p:txBody>
      </p:sp>
      <p:sp>
        <p:nvSpPr>
          <p:cNvPr id="79" name="Rectangle 2">
            <a:extLst>
              <a:ext uri="{FF2B5EF4-FFF2-40B4-BE49-F238E27FC236}">
                <a16:creationId xmlns:a16="http://schemas.microsoft.com/office/drawing/2014/main" id="{3A98B926-0995-4CC4-9D40-29B4B113D9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6553" y="685800"/>
            <a:ext cx="4754563" cy="5410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Rise of Generative AI Agents: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* Transitioning from passive text generation to active, goal-driven tool execution (Reasoning + Acting).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Industry Problem Imposed by Cloud Solutions:</a:t>
            </a:r>
            <a:endParaRPr kumimoji="0" lang="en-US" altLang="en-US" sz="1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Financial Overhead: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High per-token API costs from cloud providers (OpenAI, Anthropic).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Data Privacy Risks: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Leakage of sensitive corporate queries or proprietary logistics across wide-area networks (WAN).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Single-Point-of-Failure: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Dependence on continuous internet connectivity and external server uptimes.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Core Technical Challenge:</a:t>
            </a:r>
            <a:endParaRPr kumimoji="0" lang="en-US" altLang="en-US" sz="1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Smaller open-source edge models (under 7B parameters) frequently fail at structural tool routing, exhibiting argument hallucinations, token loops, or malformed JSON syntax errors.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78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812AB1-28BF-4C8E-BD45-1CB781B9A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IN" sz="3200">
                <a:solidFill>
                  <a:srgbClr val="FFFFFF"/>
                </a:solidFill>
              </a:rPr>
              <a:t>SYSTEM DESIGN &amp; SYSTEM ARCHITECTURE</a:t>
            </a: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5D7B55F6-69BE-4669-A619-AFCCD5863F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6553" y="685800"/>
            <a:ext cx="4754563" cy="5410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Multi-Tiered Local Pipeline Blueprint:</a:t>
            </a:r>
            <a:endParaRPr kumimoji="0" lang="en-US" altLang="en-US" sz="1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Completely separates user interaction interfaces from underlying language reasoning loops and hardware engines.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Component Communication Flow Layout:</a:t>
            </a:r>
            <a:endParaRPr kumimoji="0" lang="en-US" altLang="en-US" sz="1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Frontend UI (Streamlit):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Gathers parameters (Source, Destination, Preferences) and displays compiled outcomes asynchronously.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Orchestration Layer (LangChain LCEL):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Operates the central ReAct core, managing system constraints and maintaining the temporary reasoning memory state (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agent_scratchpad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).</a:t>
            </a:r>
            <a:endParaRPr kumimoji="0" lang="en-US" altLang="en-US" sz="1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Edge Inference Engine (Ollama):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Localized runtime host executing highly efficient quantized weights without any outbound data emissions.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Downstream OOXML Compiler: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Converts text output into downloadable slide streams instantly.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46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0F6D8-193E-4007-8DD3-47FE287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IN" sz="3200">
                <a:solidFill>
                  <a:srgbClr val="FFFFFF"/>
                </a:solidFill>
              </a:rPr>
              <a:t>THE INFERENCE ENGINE: OLLAMA &amp; PARAMETER QUANTIZATION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8A4D18-7B7C-4BDC-B119-FAA2C40223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6553" y="685800"/>
            <a:ext cx="4754563" cy="5410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Overcoming Memory Limits (RAM vs. Storage):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Standard deep learning models (saved in FP16/FP32 precision formats) exceed memory capacities on typical worker computers.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Running a standard 8-Billion parameter model requires roughly 14GB–16GB of dedicated VRAM/RAM just to initialize.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Quantization Solution via GGUF: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Quantization maps continuous high-precision floating-point weights into highly compressed discrete integer bit sets (e.g., 4-bit configurations).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Target Model Optimization: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By migrating to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qwen2.5:3b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 (or 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qwen2.5:1.5b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), the active memory footprint drops safely below 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2.0 GB of system memory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. This provides low-latency local reasoning without causing system crashes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or out-of-memory errors.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18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7AC15-B813-428D-8600-043CE2FC3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IN" sz="3200">
                <a:solidFill>
                  <a:srgbClr val="FFFFFF"/>
                </a:solidFill>
              </a:rPr>
              <a:t>DATA SOURCE SCHEMA &amp; CORE DATABASE TOOL TRACE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D70D4D-824B-41EC-B4E9-EDC98041FE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6553" y="685800"/>
            <a:ext cx="4754563" cy="5410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Eliminating Abstract Parameter Guessing: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/>
              <a:cs typeface="Arial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Enforcing rigid, deterministic schemas using specialized lookup data wrappers instead </a:t>
            </a:r>
            <a:r>
              <a:rPr lang="en-US" altLang="en-US" sz="180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relying on model memory training data.</a:t>
            </a:r>
            <a:endParaRPr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Flight and Hotel Local Storage Architecture: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Structured as clean, tabular JSON arrays mapping key properties 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source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destination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stars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amenities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).</a:t>
            </a:r>
            <a:endParaRPr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Resilient Parameter Catch-All Strategy: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Implemented Python function headers equipped with </a:t>
            </a:r>
            <a:endParaRPr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kwargs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 catch-alls. This automatically catches model variations (like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from_city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 or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to_city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) and maps them back</a:t>
            </a:r>
            <a:endParaRPr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 into correct variables, making the tool call robust against small-model variations.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367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4A688B-6ADB-4A73-87D4-4227019F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WEB API INTEGRATION: WEATHER TELEMETRY EXTRACTION</a:t>
            </a:r>
            <a:endParaRPr lang="en-IN" sz="320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E1CC03-56E3-44F5-9716-32158BC5B0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6553" y="685800"/>
            <a:ext cx="4754563" cy="5410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Bridging Local Repositories and Real-Time Telemetry: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Real-world agents must complement static internal databases with live situational data.</a:t>
            </a:r>
            <a:endParaRPr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Meteorological Pipeline: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Utilizes an outbound HTTP GET connection pointing directly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Open-Meteo REST API endpoints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Data Flow Mechanics: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Converts the agent's location string into floating-point coordinates (latitude and longitude).</a:t>
            </a:r>
            <a:endParaRPr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Queries real-time meteorological servers, processes nested multi-day time-series JSON arrays, and aggregates the values into plain text weather summaries for the user interface.</a:t>
            </a:r>
            <a:endParaRPr lang="en-US" altLang="en-US" sz="1800">
              <a:solidFill>
                <a:srgbClr val="FFFFFF"/>
              </a:solidFill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511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03A22-F423-4E4D-95B5-728705121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IN" sz="3200">
                <a:solidFill>
                  <a:srgbClr val="FFFFFF"/>
                </a:solidFill>
              </a:rPr>
              <a:t>AGENT IMPLEMENTATION AND FUNCTIONAL PROMPT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E34131-570B-4E50-A0CC-18B4D62B58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6553" y="685800"/>
            <a:ext cx="4754563" cy="5410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LangChain Core Logic Setup: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Uses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create_openai_tools_agent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 alongside an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AgentExecutor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 execution framework to track intermediate steps safely.</a:t>
            </a:r>
            <a:endParaRPr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System Prompt Constraints: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Injects clear behavioral guardrails right into the LLM's system instructions.</a:t>
            </a:r>
            <a:endParaRPr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Operational Protocols Enforced: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Mandates the extraction of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exact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dropdown city matches, preventing geographic hallucinations.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Forbids the model from printing raw JSON syntax blocks or bracket schemas on the user screen.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Commands the structural generation of clean, structured Markdown strings using specific heading tags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###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) for easier parsing downstream.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100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AB59B-23B5-452D-B2F4-B8233926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COMPILATION TIER: AUTOMATED MARKDOWN TO POWERPOINT</a:t>
            </a:r>
            <a:endParaRPr lang="en-IN" sz="320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25B310-F85C-46DE-8177-F026460A2A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6553" y="685800"/>
            <a:ext cx="4754563" cy="5410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Elevating From Simple Chatbots to Document Utilities: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A crucial milestone for production deployment is transforming unstructured textual outputs into lasting,</a:t>
            </a:r>
            <a:r>
              <a:rPr lang="en-US" altLang="en-US" sz="15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professional assets.</a:t>
            </a:r>
            <a:endParaRPr lang="en-US" altLang="en-US" sz="1500">
              <a:solidFill>
                <a:srgbClr val="FFFFFF"/>
              </a:solidFill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Dynamic Office Open XML (.pptx) Parsing Pipeline: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Implemented an on-the-fly line-by-line Markdown parsing compiler built directly on top of the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python-pptx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 library.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Compilation Flow: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Cleans out markdown emphasis indicators () and inserts text items into professional bullet points.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Encapsulates the entire multi-slide deck into a lightweight binary memory stream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(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io.BytesIO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), allowing users to download presentations instantly without taking up disk space on the</a:t>
            </a:r>
            <a:r>
              <a:rPr lang="en-US" altLang="en-US" sz="1500">
                <a:solidFill>
                  <a:srgbClr val="FFFFFF"/>
                </a:solidFill>
              </a:rPr>
              <a:t> 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server.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051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6C2BC0-4F2A-4A67-8C01-4359CC529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RESULTS AND SYSTEM VERIFICATION TRACES</a:t>
            </a:r>
            <a:endParaRPr lang="en-IN" sz="3200">
              <a:solidFill>
                <a:srgbClr val="FFFFFF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835EDAC-B844-4DF0-8936-0FC9BC5AC6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6553" y="685800"/>
            <a:ext cx="4754563" cy="5410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System Performance Under Nominal Parameters: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Successfully managed structured user request flows (e.g., Delhi to Goa travel plans) over multi-day spans.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Key System Benchmarks Obtained: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Zero Financial Cost: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 Total API operational expenditure remains at ₹0.00 indefinitely.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Processing Speed: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The agent reasons through databases, fetches live weather APIs, and returns polished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results in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18.4 seconds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Absolute Privacy: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 Enterprise operations remain entirely localized within the host machine's hardware loop.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Interface Guardrails: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Implemented validation handling that blocks matching origin/destination configurations instantly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before launching any processing background threads.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454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063FB-4EFF-4457-97E4-724FCB1B1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IN" sz="3200">
                <a:solidFill>
                  <a:srgbClr val="FFFFFF"/>
                </a:solidFill>
              </a:rPr>
              <a:t>FUTURE IMPROVEMENTS &amp; CONCLUSION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499D79F-45FC-42F5-910A-F2C6DF1F75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6553" y="685800"/>
            <a:ext cx="4754563" cy="5410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Key Contribution Summary: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Successfully demonstrated a secure, zero-cost AI travel planner running on consumer hardware by 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combining LangChain tool binding with a highly optimized, quantized local model (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qwen2.5:3b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).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Next Steps for System Scaling: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Semantic Document Search (RAG):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Introduce vector databases like ChromaDB or FAISS to let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lang="en-US" altLang="en-US" sz="1500">
                <a:solidFill>
                  <a:srgbClr val="FFFFFF"/>
                </a:solidFill>
                <a:latin typeface="Arial"/>
                <a:cs typeface="Arial"/>
              </a:rPr>
              <a:t>he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 agent read long, unstructured text files (like PDF city travel guides) alongside standard JSON databases.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Multi-Agent Systems (LangGraph):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Expand the architecture into a network of specialized sub-agents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cs typeface="Arial"/>
              </a:rPr>
              <a:t>managed by a coordinator agent—allocating dedicated agents for logistics tracking, budget optimization,</a:t>
            </a:r>
            <a:endParaRPr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and itinerary writing.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989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13BE87B-D7FD-4BF3-A7BC-511F52252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5A481B-C639-4892-B0EF-4D8373A9B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463973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2BD58B-6284-459E-9FF4-A97F3A569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E589C21-CEDE-4D90-AC85-6E43B68D1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3449715"/>
            <a:ext cx="2981858" cy="3208867"/>
            <a:chOff x="9206969" y="2963333"/>
            <a:chExt cx="2981858" cy="320886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F4121EC-0ADD-45C0-85F0-D49F67A3E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22F012F-0680-4AEC-9884-BA712ED2B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A5CEDFE-9EC8-436B-AE10-F85A84778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9C70031-55D8-483B-8452-A6B809D0A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24F1E16-B0BE-4400-9A10-95BB1D52C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F54E53-F50B-494B-B719-593292E6E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738" y="685798"/>
            <a:ext cx="6159273" cy="44958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THANKYOU…</a:t>
            </a:r>
          </a:p>
        </p:txBody>
      </p:sp>
    </p:spTree>
    <p:extLst>
      <p:ext uri="{BB962C8B-B14F-4D97-AF65-F5344CB8AC3E}">
        <p14:creationId xmlns:p14="http://schemas.microsoft.com/office/powerpoint/2010/main" val="101460405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19</TotalTime>
  <Words>1002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Unicode MS</vt:lpstr>
      <vt:lpstr>Century Gothic</vt:lpstr>
      <vt:lpstr>Wingdings 3</vt:lpstr>
      <vt:lpstr>Slice</vt:lpstr>
      <vt:lpstr>AI Travel Assistant Project Guide</vt:lpstr>
      <vt:lpstr>PROJECT CONTEXT &amp; THE PROBLEM LANDSCAPE</vt:lpstr>
      <vt:lpstr>SYSTEM DESIGN &amp; SYSTEM ARCHITECTURE</vt:lpstr>
      <vt:lpstr>THE INFERENCE ENGINE: OLLAMA &amp; PARAMETER QUANTIZATION</vt:lpstr>
      <vt:lpstr>DATA SOURCE SCHEMA &amp; CORE DATABASE TOOL TRACE</vt:lpstr>
      <vt:lpstr>WEB API INTEGRATION: WEATHER TELEMETRY EXTRACTION</vt:lpstr>
      <vt:lpstr>AGENT IMPLEMENTATION AND FUNCTIONAL PROMPT DESIGN</vt:lpstr>
      <vt:lpstr>COMPILATION TIER: AUTOMATED MARKDOWN TO POWERPOINT</vt:lpstr>
      <vt:lpstr>RESULTS AND SYSTEM VERIFICATION TRACES</vt:lpstr>
      <vt:lpstr>FUTURE IMPROVEMENTS &amp; CONCLUSION</vt:lpstr>
      <vt:lpstr>THANKYOU…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Travel Assistant Project Guide</dc:title>
  <dc:creator>Kartik Bingi</dc:creator>
  <cp:lastModifiedBy>Kartik Bingi</cp:lastModifiedBy>
  <cp:revision>79</cp:revision>
  <dcterms:created xsi:type="dcterms:W3CDTF">2026-05-28T19:18:09Z</dcterms:created>
  <dcterms:modified xsi:type="dcterms:W3CDTF">2026-05-28T20:02:04Z</dcterms:modified>
</cp:coreProperties>
</file>